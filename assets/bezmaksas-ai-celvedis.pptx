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Inter ExtraBold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ExtraBold-boldItalic.fntdata"/><Relationship Id="rId25" Type="http://schemas.openxmlformats.org/officeDocument/2006/relationships/font" Target="fonts/InterExtra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1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ea44aef463_0_1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ea44aef463_0_1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a44aef463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a44aef463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a44aef463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a44aef463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a44aef463_0_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a44aef463_0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a44aef463_0_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a44aef463_0_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a44aef463_0_9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ea44aef463_0_9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a44aef463_0_1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ea44aef463_0_1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a44aef463_0_1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ea44aef463_0_1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a44aef463_0_1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ea44aef463_0_1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a44aef463_0_17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ea44aef463_0_17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a44aef463_0_1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ea44aef463_0_1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12"/>
          <p:cNvSpPr txBox="1"/>
          <p:nvPr/>
        </p:nvSpPr>
        <p:spPr>
          <a:xfrm>
            <a:off x="0" y="4881900"/>
            <a:ext cx="5806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2"/>
                </a:solidFill>
              </a:rPr>
              <a:t>This is patent and copyright owns only SIA INTELEKTA SKOLA- Šis patents un viņa autortīesības un kopijtiesības pieder Intelekta Skola SIA</a:t>
            </a:r>
            <a:endParaRPr sz="5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a44aef463_9_0)">
  <p:cSld name="Generated (g3ea44aef463_9_0)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/>
        </p:nvSpPr>
        <p:spPr>
          <a:xfrm>
            <a:off x="95600" y="4956220"/>
            <a:ext cx="94095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2"/>
                </a:solidFill>
              </a:rPr>
              <a:t>This is patent and copyright owns only SIA INTELEKTA SKOLA- Šis patents un viņa autortīesības un kopijtiesības pieder Intelekta Skola SIA</a:t>
            </a:r>
            <a:endParaRPr sz="5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.jp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6762750" y="-2381250"/>
            <a:ext cx="4762500" cy="4762500"/>
          </a:xfrm>
          <a:prstGeom prst="ellipse">
            <a:avLst/>
          </a:prstGeom>
          <a:solidFill>
            <a:srgbClr val="4F46E5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professional, high-tech minimalist 3D visualization of a digital brain or neural network floating in a clean workspace. Soft blue and violet glowing accents, corporate aesthetic, white background." id="58" name="Google Shape;58;p14"/>
          <p:cNvPicPr preferRelativeResize="0"/>
          <p:nvPr/>
        </p:nvPicPr>
        <p:blipFill rotWithShape="1">
          <a:blip r:embed="rId3">
            <a:alphaModFix/>
          </a:blip>
          <a:srcRect b="0" l="5556" r="5556" t="0"/>
          <a:stretch/>
        </p:blipFill>
        <p:spPr>
          <a:xfrm>
            <a:off x="4572000" y="0"/>
            <a:ext cx="4572000" cy="5143500"/>
          </a:xfrm>
          <a:prstGeom prst="roundRect">
            <a:avLst>
              <a:gd fmla="val 8333" name="adj"/>
            </a:avLst>
          </a:prstGeom>
          <a:noFill/>
          <a:ln>
            <a:noFill/>
          </a:ln>
        </p:spPr>
      </p:pic>
      <p:sp>
        <p:nvSpPr>
          <p:cNvPr id="59" name="Google Shape;59;p14"/>
          <p:cNvSpPr txBox="1"/>
          <p:nvPr/>
        </p:nvSpPr>
        <p:spPr>
          <a:xfrm>
            <a:off x="571500" y="13335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4F46E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INTELEKTA SKOLA</a:t>
            </a:r>
            <a:endParaRPr b="0" sz="1600">
              <a:solidFill>
                <a:srgbClr val="4F46E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571500" y="1809750"/>
            <a:ext cx="3810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55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Bezmaksas ceļvedis darbībai ar MI</a:t>
            </a:r>
            <a:endParaRPr b="0" sz="3255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1" name="Google Shape;61;p14"/>
          <p:cNvSpPr txBox="1"/>
          <p:nvPr/>
        </p:nvSpPr>
        <p:spPr>
          <a:xfrm rot="-1304693">
            <a:off x="304638" y="4298232"/>
            <a:ext cx="6776175" cy="2770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EEEEEE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571500" y="3429000"/>
            <a:ext cx="381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95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Uzzini, kā praktiski izmantot mākslīgo intelektu, lai strādātu efektīvāk un sasniegtu vairāk.</a:t>
            </a:r>
            <a:endParaRPr b="0" sz="1295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571500" y="4286250"/>
            <a:ext cx="1714500" cy="19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6286500" y="-1428750"/>
            <a:ext cx="2857500" cy="2857500"/>
          </a:xfrm>
          <a:prstGeom prst="roundRect">
            <a:avLst>
              <a:gd fmla="val 50000" name="adj"/>
            </a:avLst>
          </a:prstGeom>
          <a:solidFill>
            <a:srgbClr val="4F46E5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571500" y="381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125"/>
              </a:spcAft>
              <a:buNone/>
            </a:pPr>
            <a:r>
              <a:rPr b="0" lang="en" sz="1400">
                <a:solidFill>
                  <a:srgbClr val="4F46E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Ievads MI pasaulē</a:t>
            </a:r>
            <a:endParaRPr b="0" sz="1400">
              <a:solidFill>
                <a:srgbClr val="4F46E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571500" y="809625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125"/>
              </a:spcAft>
              <a:buNone/>
            </a:pPr>
            <a:r>
              <a:rPr b="0" lang="en" sz="32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Kas ir mākslīgais intelekts?</a:t>
            </a:r>
            <a:endParaRPr b="0" sz="32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14500"/>
            <a:ext cx="4000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857250" y="2000250"/>
            <a:ext cx="3429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4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Lielākā daļa cilvēku domā, ka AI ir robots, kas domā kā cilvēks.</a:t>
            </a:r>
            <a:endParaRPr b="0" sz="124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124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Patiesībā AI ir sistēma, kas analizē milzīgu informācijas apjomu un spēj radīt atbildes, balstoties uz iepriekš apgūtiem datiem.</a:t>
            </a:r>
            <a:endParaRPr b="0" sz="124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1125"/>
              </a:spcAft>
              <a:buNone/>
            </a:pPr>
            <a:r>
              <a:rPr b="1" lang="en" sz="1395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Vienkāršāk: AI ir digitāls asistents, kurš ir izlasījis vairāk informācijas nekā jebkurš cilvēks un spēj palīdzēt atrast atbildes dažu sekunžu laikā.</a:t>
            </a:r>
            <a:endParaRPr b="1" sz="1395">
              <a:solidFill>
                <a:srgbClr val="4F46E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A sophisticated 3D abstract visualization of neural networks and glowing data particles flowing into a friendly digital assistant interface. Minimalist, clean corporate style, white background with blue and violet accents." id="74" name="Google Shape;7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0" y="1524000"/>
            <a:ext cx="3810000" cy="3810000"/>
          </a:xfrm>
          <a:prstGeom prst="roundRect">
            <a:avLst>
              <a:gd fmla="val 10000" name="adj"/>
            </a:avLst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2988" y="1519238"/>
            <a:ext cx="3819600" cy="36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37225" y="4934175"/>
            <a:ext cx="44730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00">
                <a:solidFill>
                  <a:schemeClr val="dk2"/>
                </a:solidFill>
              </a:rPr>
              <a:t>This is patent and copyright owns only SIA INTELEKTA SKOLA- Šis patents un viņa autortīesības un kopijtiesības pieder Intelekta Skola SIA</a:t>
            </a:r>
            <a:endParaRPr sz="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6286500" y="-1428750"/>
            <a:ext cx="2857500" cy="2857500"/>
          </a:xfrm>
          <a:prstGeom prst="roundRect">
            <a:avLst>
              <a:gd fmla="val 50000" name="adj"/>
            </a:avLst>
          </a:prstGeom>
          <a:solidFill>
            <a:srgbClr val="4F46E5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571500" y="381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4F46E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Digitālā transformācija</a:t>
            </a:r>
            <a:endParaRPr b="0" sz="1400">
              <a:solidFill>
                <a:srgbClr val="4F46E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571500" y="809625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96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Kāpēc AI kļūst tik svarīgs?</a:t>
            </a:r>
            <a:endParaRPr b="0" sz="296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descr="A high-tech digital landscape showing the evolution from internet to smartphones to AI, minimalist and clean corporate style with blue and violet accents." id="84" name="Google Shape;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7750" y="1714500"/>
            <a:ext cx="3810000" cy="2857500"/>
          </a:xfrm>
          <a:prstGeom prst="roundRect">
            <a:avLst>
              <a:gd fmla="val 13333" name="adj"/>
            </a:avLst>
          </a:prstGeom>
          <a:noFill/>
          <a:ln>
            <a:noFill/>
          </a:ln>
        </p:spPr>
      </p:pic>
      <p:sp>
        <p:nvSpPr>
          <p:cNvPr id="85" name="Google Shape;85;p16"/>
          <p:cNvSpPr txBox="1"/>
          <p:nvPr/>
        </p:nvSpPr>
        <p:spPr>
          <a:xfrm>
            <a:off x="571500" y="1619250"/>
            <a:ext cx="4000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Internets mainīja pasauli. Viedtālruņi mainīja pasauli. Tagad </a:t>
            </a:r>
            <a:r>
              <a:rPr b="1" lang="en" sz="130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AI maina pasauli</a:t>
            </a:r>
            <a:r>
              <a:rPr b="0" lang="en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sz="13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Tie cilvēki un uzņēmumi, kuri iemācīsies izmantot AI, strādās ātrāk, efektīvāk un pelnīs vairāk.</a:t>
            </a:r>
            <a:endParaRPr b="0" sz="13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6" name="Google Shape;86;p16"/>
          <p:cNvGrpSpPr/>
          <p:nvPr/>
        </p:nvGrpSpPr>
        <p:grpSpPr>
          <a:xfrm>
            <a:off x="571500" y="2952750"/>
            <a:ext cx="4000500" cy="1619100"/>
            <a:chOff x="0" y="0"/>
            <a:chExt cx="4000500" cy="1619100"/>
          </a:xfrm>
        </p:grpSpPr>
        <p:sp>
          <p:nvSpPr>
            <p:cNvPr id="87" name="Google Shape;87;p16"/>
            <p:cNvSpPr/>
            <p:nvPr/>
          </p:nvSpPr>
          <p:spPr>
            <a:xfrm>
              <a:off x="0" y="0"/>
              <a:ext cx="4000500" cy="1619100"/>
            </a:xfrm>
            <a:prstGeom prst="roundRect">
              <a:avLst>
                <a:gd fmla="val 14117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6"/>
            <p:cNvSpPr txBox="1"/>
            <p:nvPr/>
          </p:nvSpPr>
          <p:spPr>
            <a:xfrm>
              <a:off x="285750" y="332486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6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build</a:t>
              </a:r>
              <a:endParaRPr sz="296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9" name="Google Shape;89;p16"/>
            <p:cNvSpPr txBox="1"/>
            <p:nvPr/>
          </p:nvSpPr>
          <p:spPr>
            <a:xfrm>
              <a:off x="857250" y="285750"/>
              <a:ext cx="2857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Nav jābūt programmētājam</a:t>
              </a:r>
              <a:endParaRPr b="0" sz="140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Pietiek iemācīties izmantot pareizos rīkus, lai kļūtu par rītdienas līderi.</a:t>
              </a:r>
              <a:endParaRPr b="0"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/>
        </p:nvSpPr>
        <p:spPr>
          <a:xfrm>
            <a:off x="6286500" y="-1428750"/>
            <a:ext cx="2857500" cy="2857500"/>
          </a:xfrm>
          <a:prstGeom prst="roundRect">
            <a:avLst>
              <a:gd fmla="val 50000" name="adj"/>
            </a:avLst>
          </a:prstGeom>
          <a:solidFill>
            <a:srgbClr val="4F46E5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 txBox="1"/>
          <p:nvPr/>
        </p:nvSpPr>
        <p:spPr>
          <a:xfrm>
            <a:off x="571500" y="381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4F46E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Praktiskais pielietojums</a:t>
            </a:r>
            <a:endParaRPr b="0" sz="1400">
              <a:solidFill>
                <a:srgbClr val="4F46E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571500" y="762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Kā AI palīdz ikdienā?</a:t>
            </a:r>
            <a:endParaRPr b="0" sz="3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97" name="Google Shape;97;p17"/>
          <p:cNvGrpSpPr/>
          <p:nvPr/>
        </p:nvGrpSpPr>
        <p:grpSpPr>
          <a:xfrm>
            <a:off x="571500" y="1619250"/>
            <a:ext cx="1762200" cy="952500"/>
            <a:chOff x="0" y="0"/>
            <a:chExt cx="1762200" cy="952500"/>
          </a:xfrm>
        </p:grpSpPr>
        <p:sp>
          <p:nvSpPr>
            <p:cNvPr id="98" name="Google Shape;98;p17"/>
            <p:cNvSpPr/>
            <p:nvPr/>
          </p:nvSpPr>
          <p:spPr>
            <a:xfrm>
              <a:off x="0" y="0"/>
              <a:ext cx="1762200" cy="952500"/>
            </a:xfrm>
            <a:prstGeom prst="roundRect">
              <a:avLst>
                <a:gd fmla="val 1600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7"/>
            <p:cNvSpPr txBox="1"/>
            <p:nvPr/>
          </p:nvSpPr>
          <p:spPr>
            <a:xfrm>
              <a:off x="0" y="124460"/>
              <a:ext cx="1762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search</a:t>
              </a:r>
              <a:endParaRPr sz="20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0" name="Google Shape;100;p17"/>
            <p:cNvSpPr txBox="1"/>
            <p:nvPr/>
          </p:nvSpPr>
          <p:spPr>
            <a:xfrm>
              <a:off x="95250" y="47625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Meklēt informāciju</a:t>
              </a:r>
              <a:endParaRPr b="0" sz="110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01" name="Google Shape;101;p17"/>
          <p:cNvGrpSpPr/>
          <p:nvPr/>
        </p:nvGrpSpPr>
        <p:grpSpPr>
          <a:xfrm>
            <a:off x="2524125" y="1619250"/>
            <a:ext cx="1762200" cy="952500"/>
            <a:chOff x="0" y="0"/>
            <a:chExt cx="1762200" cy="952500"/>
          </a:xfrm>
        </p:grpSpPr>
        <p:sp>
          <p:nvSpPr>
            <p:cNvPr id="102" name="Google Shape;102;p17"/>
            <p:cNvSpPr/>
            <p:nvPr/>
          </p:nvSpPr>
          <p:spPr>
            <a:xfrm>
              <a:off x="0" y="0"/>
              <a:ext cx="1762200" cy="952500"/>
            </a:xfrm>
            <a:prstGeom prst="roundRect">
              <a:avLst>
                <a:gd fmla="val 1600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7"/>
            <p:cNvSpPr txBox="1"/>
            <p:nvPr/>
          </p:nvSpPr>
          <p:spPr>
            <a:xfrm>
              <a:off x="0" y="124460"/>
              <a:ext cx="1762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edit_note</a:t>
              </a:r>
              <a:endParaRPr sz="20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4" name="Google Shape;104;p17"/>
            <p:cNvSpPr txBox="1"/>
            <p:nvPr/>
          </p:nvSpPr>
          <p:spPr>
            <a:xfrm>
              <a:off x="95250" y="47625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Rakstīt tekstus</a:t>
              </a:r>
              <a:endParaRPr b="0" sz="110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05" name="Google Shape;105;p17"/>
          <p:cNvGrpSpPr/>
          <p:nvPr/>
        </p:nvGrpSpPr>
        <p:grpSpPr>
          <a:xfrm>
            <a:off x="571500" y="2714625"/>
            <a:ext cx="1762200" cy="952500"/>
            <a:chOff x="0" y="0"/>
            <a:chExt cx="1762200" cy="952500"/>
          </a:xfrm>
        </p:grpSpPr>
        <p:sp>
          <p:nvSpPr>
            <p:cNvPr id="106" name="Google Shape;106;p17"/>
            <p:cNvSpPr/>
            <p:nvPr/>
          </p:nvSpPr>
          <p:spPr>
            <a:xfrm>
              <a:off x="0" y="0"/>
              <a:ext cx="1762200" cy="952500"/>
            </a:xfrm>
            <a:prstGeom prst="roundRect">
              <a:avLst>
                <a:gd fmla="val 1600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7"/>
            <p:cNvSpPr txBox="1"/>
            <p:nvPr/>
          </p:nvSpPr>
          <p:spPr>
            <a:xfrm>
              <a:off x="0" y="124460"/>
              <a:ext cx="1762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school</a:t>
              </a:r>
              <a:endParaRPr sz="20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8" name="Google Shape;108;p17"/>
            <p:cNvSpPr txBox="1"/>
            <p:nvPr/>
          </p:nvSpPr>
          <p:spPr>
            <a:xfrm>
              <a:off x="95250" y="47625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Mācīties prasmes</a:t>
              </a:r>
              <a:endParaRPr b="0" sz="110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09" name="Google Shape;109;p17"/>
          <p:cNvGrpSpPr/>
          <p:nvPr/>
        </p:nvGrpSpPr>
        <p:grpSpPr>
          <a:xfrm>
            <a:off x="2524125" y="2714625"/>
            <a:ext cx="1762200" cy="952500"/>
            <a:chOff x="0" y="0"/>
            <a:chExt cx="1762200" cy="952500"/>
          </a:xfrm>
        </p:grpSpPr>
        <p:sp>
          <p:nvSpPr>
            <p:cNvPr id="110" name="Google Shape;110;p17"/>
            <p:cNvSpPr/>
            <p:nvPr/>
          </p:nvSpPr>
          <p:spPr>
            <a:xfrm>
              <a:off x="0" y="0"/>
              <a:ext cx="1762200" cy="952500"/>
            </a:xfrm>
            <a:prstGeom prst="roundRect">
              <a:avLst>
                <a:gd fmla="val 1600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7"/>
            <p:cNvSpPr txBox="1"/>
            <p:nvPr/>
          </p:nvSpPr>
          <p:spPr>
            <a:xfrm>
              <a:off x="0" y="124460"/>
              <a:ext cx="1762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translate</a:t>
              </a:r>
              <a:endParaRPr sz="20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2" name="Google Shape;112;p17"/>
            <p:cNvSpPr txBox="1"/>
            <p:nvPr/>
          </p:nvSpPr>
          <p:spPr>
            <a:xfrm>
              <a:off x="95250" y="47625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Tulkot valodas</a:t>
              </a:r>
              <a:endParaRPr b="0" sz="110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13" name="Google Shape;113;p17"/>
          <p:cNvGrpSpPr/>
          <p:nvPr/>
        </p:nvGrpSpPr>
        <p:grpSpPr>
          <a:xfrm>
            <a:off x="571500" y="3810000"/>
            <a:ext cx="1762200" cy="952500"/>
            <a:chOff x="0" y="0"/>
            <a:chExt cx="1762200" cy="952500"/>
          </a:xfrm>
        </p:grpSpPr>
        <p:sp>
          <p:nvSpPr>
            <p:cNvPr id="114" name="Google Shape;114;p17"/>
            <p:cNvSpPr/>
            <p:nvPr/>
          </p:nvSpPr>
          <p:spPr>
            <a:xfrm>
              <a:off x="0" y="0"/>
              <a:ext cx="1762200" cy="952500"/>
            </a:xfrm>
            <a:prstGeom prst="roundRect">
              <a:avLst>
                <a:gd fmla="val 1600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7"/>
            <p:cNvSpPr txBox="1"/>
            <p:nvPr/>
          </p:nvSpPr>
          <p:spPr>
            <a:xfrm>
              <a:off x="0" y="124460"/>
              <a:ext cx="1762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present_to_all</a:t>
              </a:r>
              <a:endParaRPr sz="20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6" name="Google Shape;116;p17"/>
            <p:cNvSpPr txBox="1"/>
            <p:nvPr/>
          </p:nvSpPr>
          <p:spPr>
            <a:xfrm>
              <a:off x="95250" y="47625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Veidot prezentācijas</a:t>
              </a:r>
              <a:endParaRPr b="0" sz="110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17" name="Google Shape;117;p17"/>
          <p:cNvGrpSpPr/>
          <p:nvPr/>
        </p:nvGrpSpPr>
        <p:grpSpPr>
          <a:xfrm>
            <a:off x="2524125" y="3810000"/>
            <a:ext cx="1762200" cy="952500"/>
            <a:chOff x="0" y="0"/>
            <a:chExt cx="1762200" cy="952500"/>
          </a:xfrm>
        </p:grpSpPr>
        <p:sp>
          <p:nvSpPr>
            <p:cNvPr id="118" name="Google Shape;118;p17"/>
            <p:cNvSpPr/>
            <p:nvPr/>
          </p:nvSpPr>
          <p:spPr>
            <a:xfrm>
              <a:off x="0" y="0"/>
              <a:ext cx="1762200" cy="952500"/>
            </a:xfrm>
            <a:prstGeom prst="roundRect">
              <a:avLst>
                <a:gd fmla="val 16000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7"/>
            <p:cNvSpPr txBox="1"/>
            <p:nvPr/>
          </p:nvSpPr>
          <p:spPr>
            <a:xfrm>
              <a:off x="0" y="124460"/>
              <a:ext cx="1762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lightbulb</a:t>
              </a:r>
              <a:endParaRPr sz="20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0" name="Google Shape;120;p17"/>
            <p:cNvSpPr txBox="1"/>
            <p:nvPr/>
          </p:nvSpPr>
          <p:spPr>
            <a:xfrm>
              <a:off x="95250" y="47625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Radīt idejas</a:t>
              </a:r>
              <a:endParaRPr b="0" sz="110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21" name="Google Shape;121;p17"/>
          <p:cNvGrpSpPr/>
          <p:nvPr/>
        </p:nvGrpSpPr>
        <p:grpSpPr>
          <a:xfrm>
            <a:off x="4700750" y="1619250"/>
            <a:ext cx="3714750" cy="3385625"/>
            <a:chOff x="4667250" y="1762125"/>
            <a:chExt cx="3714750" cy="3385625"/>
          </a:xfrm>
        </p:grpSpPr>
        <p:pic>
          <p:nvPicPr>
            <p:cNvPr descr="A minimalist 3D illustration of a glowing digital brain surrounded by icons representing productivity, creativity, and organization. Clean soft lighting, violet and blue color palette." id="122" name="Google Shape;122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95875" y="1762125"/>
              <a:ext cx="2857500" cy="2857500"/>
            </a:xfrm>
            <a:prstGeom prst="ellipse">
              <a:avLst/>
            </a:prstGeom>
            <a:noFill/>
            <a:ln>
              <a:noFill/>
            </a:ln>
          </p:spPr>
        </p:pic>
        <p:grpSp>
          <p:nvGrpSpPr>
            <p:cNvPr id="123" name="Google Shape;123;p17"/>
            <p:cNvGrpSpPr/>
            <p:nvPr/>
          </p:nvGrpSpPr>
          <p:grpSpPr>
            <a:xfrm>
              <a:off x="4667250" y="4095750"/>
              <a:ext cx="1143000" cy="476400"/>
              <a:chOff x="0" y="0"/>
              <a:chExt cx="1143000" cy="476400"/>
            </a:xfrm>
          </p:grpSpPr>
          <p:sp>
            <p:nvSpPr>
              <p:cNvPr id="124" name="Google Shape;124;p17"/>
              <p:cNvSpPr/>
              <p:nvPr/>
            </p:nvSpPr>
            <p:spPr>
              <a:xfrm>
                <a:off x="0" y="0"/>
                <a:ext cx="1143000" cy="476400"/>
              </a:xfrm>
              <a:prstGeom prst="roundRect">
                <a:avLst>
                  <a:gd fmla="val 24000" name="adj"/>
                </a:avLst>
              </a:prstGeom>
              <a:solidFill>
                <a:srgbClr val="4F46E5">
                  <a:alpha val="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7"/>
              <p:cNvSpPr txBox="1"/>
              <p:nvPr/>
            </p:nvSpPr>
            <p:spPr>
              <a:xfrm>
                <a:off x="0" y="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F46E5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Analizēt dokumentus</a:t>
                </a:r>
                <a:endParaRPr b="0" sz="900">
                  <a:solidFill>
                    <a:srgbClr val="4F46E5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26" name="Google Shape;126;p17"/>
            <p:cNvGrpSpPr/>
            <p:nvPr/>
          </p:nvGrpSpPr>
          <p:grpSpPr>
            <a:xfrm>
              <a:off x="5953125" y="4095750"/>
              <a:ext cx="1143000" cy="1052000"/>
              <a:chOff x="0" y="0"/>
              <a:chExt cx="1143000" cy="1052000"/>
            </a:xfrm>
          </p:grpSpPr>
          <p:sp>
            <p:nvSpPr>
              <p:cNvPr id="127" name="Google Shape;127;p17"/>
              <p:cNvSpPr/>
              <p:nvPr/>
            </p:nvSpPr>
            <p:spPr>
              <a:xfrm>
                <a:off x="0" y="0"/>
                <a:ext cx="1143000" cy="476400"/>
              </a:xfrm>
              <a:prstGeom prst="roundRect">
                <a:avLst>
                  <a:gd fmla="val 24000" name="adj"/>
                </a:avLst>
              </a:prstGeom>
              <a:solidFill>
                <a:srgbClr val="4F46E5">
                  <a:alpha val="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17"/>
              <p:cNvSpPr txBox="1"/>
              <p:nvPr/>
            </p:nvSpPr>
            <p:spPr>
              <a:xfrm>
                <a:off x="0" y="5756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F46E5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Plānot darbu</a:t>
                </a:r>
                <a:endParaRPr b="0" sz="900">
                  <a:solidFill>
                    <a:srgbClr val="4F46E5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29" name="Google Shape;129;p17"/>
            <p:cNvGrpSpPr/>
            <p:nvPr/>
          </p:nvGrpSpPr>
          <p:grpSpPr>
            <a:xfrm>
              <a:off x="7239000" y="4095750"/>
              <a:ext cx="1143000" cy="476400"/>
              <a:chOff x="0" y="0"/>
              <a:chExt cx="1143000" cy="476400"/>
            </a:xfrm>
          </p:grpSpPr>
          <p:sp>
            <p:nvSpPr>
              <p:cNvPr id="130" name="Google Shape;130;p17"/>
              <p:cNvSpPr/>
              <p:nvPr/>
            </p:nvSpPr>
            <p:spPr>
              <a:xfrm>
                <a:off x="0" y="0"/>
                <a:ext cx="1143000" cy="476400"/>
              </a:xfrm>
              <a:prstGeom prst="roundRect">
                <a:avLst>
                  <a:gd fmla="val 24000" name="adj"/>
                </a:avLst>
              </a:prstGeom>
              <a:solidFill>
                <a:srgbClr val="4F46E5">
                  <a:alpha val="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7"/>
              <p:cNvSpPr txBox="1"/>
              <p:nvPr/>
            </p:nvSpPr>
            <p:spPr>
              <a:xfrm>
                <a:off x="0" y="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F46E5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Automatizēt</a:t>
                </a:r>
                <a:endParaRPr b="0" sz="900">
                  <a:solidFill>
                    <a:srgbClr val="4F46E5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6286500" y="-1428750"/>
            <a:ext cx="2857500" cy="2857500"/>
          </a:xfrm>
          <a:prstGeom prst="ellipse">
            <a:avLst/>
          </a:prstGeom>
          <a:solidFill>
            <a:srgbClr val="4F46E5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571500" y="381000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4F46E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Mākslīgā intelekta jauda</a:t>
            </a:r>
            <a:endParaRPr b="0" sz="1400">
              <a:solidFill>
                <a:srgbClr val="4F46E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571500" y="714375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10 praktiski AI pielietojumi ikdienai</a:t>
            </a:r>
            <a:endParaRPr b="0" sz="28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40" name="Google Shape;140;p18"/>
          <p:cNvGrpSpPr/>
          <p:nvPr/>
        </p:nvGrpSpPr>
        <p:grpSpPr>
          <a:xfrm>
            <a:off x="571500" y="1428750"/>
            <a:ext cx="1524000" cy="1047900"/>
            <a:chOff x="0" y="0"/>
            <a:chExt cx="1524000" cy="1047900"/>
          </a:xfrm>
        </p:grpSpPr>
        <p:sp>
          <p:nvSpPr>
            <p:cNvPr id="141" name="Google Shape;141;p18"/>
            <p:cNvSpPr/>
            <p:nvPr/>
          </p:nvSpPr>
          <p:spPr>
            <a:xfrm>
              <a:off x="0" y="0"/>
              <a:ext cx="15240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8"/>
            <p:cNvSpPr txBox="1"/>
            <p:nvPr/>
          </p:nvSpPr>
          <p:spPr>
            <a:xfrm>
              <a:off x="95250" y="95250"/>
              <a:ext cx="1333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search</a:t>
              </a:r>
              <a:endParaRPr sz="18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1. Meklēšana</a:t>
              </a:r>
              <a:endParaRPr b="1" sz="1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Strukturēta info dažu sekunžu laikā.</a:t>
              </a:r>
              <a:endParaRPr b="0" sz="9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3" name="Google Shape;143;p18"/>
          <p:cNvGrpSpPr/>
          <p:nvPr/>
        </p:nvGrpSpPr>
        <p:grpSpPr>
          <a:xfrm>
            <a:off x="2190750" y="1428750"/>
            <a:ext cx="1524000" cy="1047900"/>
            <a:chOff x="0" y="0"/>
            <a:chExt cx="1524000" cy="1047900"/>
          </a:xfrm>
        </p:grpSpPr>
        <p:sp>
          <p:nvSpPr>
            <p:cNvPr id="144" name="Google Shape;144;p18"/>
            <p:cNvSpPr/>
            <p:nvPr/>
          </p:nvSpPr>
          <p:spPr>
            <a:xfrm>
              <a:off x="0" y="0"/>
              <a:ext cx="15240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8"/>
            <p:cNvSpPr txBox="1"/>
            <p:nvPr/>
          </p:nvSpPr>
          <p:spPr>
            <a:xfrm>
              <a:off x="95250" y="95250"/>
              <a:ext cx="1333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email</a:t>
              </a:r>
              <a:endParaRPr sz="18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2. E-pasti</a:t>
              </a:r>
              <a:endParaRPr b="1" sz="1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Profesionāla sarakste klientiem.</a:t>
              </a:r>
              <a:endParaRPr b="0" sz="9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6" name="Google Shape;146;p18"/>
          <p:cNvGrpSpPr/>
          <p:nvPr/>
        </p:nvGrpSpPr>
        <p:grpSpPr>
          <a:xfrm>
            <a:off x="3810000" y="1428750"/>
            <a:ext cx="1524000" cy="1047900"/>
            <a:chOff x="0" y="0"/>
            <a:chExt cx="1524000" cy="1047900"/>
          </a:xfrm>
        </p:grpSpPr>
        <p:sp>
          <p:nvSpPr>
            <p:cNvPr id="147" name="Google Shape;147;p18"/>
            <p:cNvSpPr/>
            <p:nvPr/>
          </p:nvSpPr>
          <p:spPr>
            <a:xfrm>
              <a:off x="0" y="0"/>
              <a:ext cx="15240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8"/>
            <p:cNvSpPr txBox="1"/>
            <p:nvPr/>
          </p:nvSpPr>
          <p:spPr>
            <a:xfrm>
              <a:off x="95250" y="95250"/>
              <a:ext cx="1333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share</a:t>
              </a:r>
              <a:endParaRPr sz="18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3. Soc. tīkli</a:t>
              </a:r>
              <a:endParaRPr b="1" sz="1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Satura idejas un ierakstu plāni.</a:t>
              </a:r>
              <a:endParaRPr b="0" sz="9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9" name="Google Shape;149;p18"/>
          <p:cNvGrpSpPr/>
          <p:nvPr/>
        </p:nvGrpSpPr>
        <p:grpSpPr>
          <a:xfrm>
            <a:off x="5429250" y="1428750"/>
            <a:ext cx="1524000" cy="1047900"/>
            <a:chOff x="0" y="0"/>
            <a:chExt cx="1524000" cy="1047900"/>
          </a:xfrm>
        </p:grpSpPr>
        <p:sp>
          <p:nvSpPr>
            <p:cNvPr id="150" name="Google Shape;150;p18"/>
            <p:cNvSpPr/>
            <p:nvPr/>
          </p:nvSpPr>
          <p:spPr>
            <a:xfrm>
              <a:off x="0" y="0"/>
              <a:ext cx="15240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8"/>
            <p:cNvSpPr txBox="1"/>
            <p:nvPr/>
          </p:nvSpPr>
          <p:spPr>
            <a:xfrm>
              <a:off x="95250" y="95250"/>
              <a:ext cx="1333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campaign</a:t>
              </a:r>
              <a:endParaRPr sz="18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4. Reklāmas</a:t>
              </a:r>
              <a:endParaRPr b="1" sz="1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Pārliecinoši teksti kampaņām.</a:t>
              </a:r>
              <a:endParaRPr b="0" sz="9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2" name="Google Shape;152;p18"/>
          <p:cNvGrpSpPr/>
          <p:nvPr/>
        </p:nvGrpSpPr>
        <p:grpSpPr>
          <a:xfrm>
            <a:off x="7048500" y="1428750"/>
            <a:ext cx="1524000" cy="1047900"/>
            <a:chOff x="0" y="0"/>
            <a:chExt cx="1524000" cy="1047900"/>
          </a:xfrm>
        </p:grpSpPr>
        <p:sp>
          <p:nvSpPr>
            <p:cNvPr id="153" name="Google Shape;153;p18"/>
            <p:cNvSpPr/>
            <p:nvPr/>
          </p:nvSpPr>
          <p:spPr>
            <a:xfrm>
              <a:off x="0" y="0"/>
              <a:ext cx="15240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8"/>
            <p:cNvSpPr txBox="1"/>
            <p:nvPr/>
          </p:nvSpPr>
          <p:spPr>
            <a:xfrm>
              <a:off x="95250" y="95250"/>
              <a:ext cx="1333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school</a:t>
              </a:r>
              <a:endParaRPr sz="18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5. Mācības</a:t>
              </a:r>
              <a:endParaRPr b="1" sz="1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Sarežģītu tēmu vienkāršošana.</a:t>
              </a:r>
              <a:endParaRPr b="0" sz="9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5" name="Google Shape;155;p18"/>
          <p:cNvGrpSpPr/>
          <p:nvPr/>
        </p:nvGrpSpPr>
        <p:grpSpPr>
          <a:xfrm>
            <a:off x="571500" y="2667000"/>
            <a:ext cx="1524000" cy="1047900"/>
            <a:chOff x="0" y="0"/>
            <a:chExt cx="1524000" cy="1047900"/>
          </a:xfrm>
        </p:grpSpPr>
        <p:sp>
          <p:nvSpPr>
            <p:cNvPr id="156" name="Google Shape;156;p18"/>
            <p:cNvSpPr/>
            <p:nvPr/>
          </p:nvSpPr>
          <p:spPr>
            <a:xfrm>
              <a:off x="0" y="0"/>
              <a:ext cx="15240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8"/>
            <p:cNvSpPr txBox="1"/>
            <p:nvPr/>
          </p:nvSpPr>
          <p:spPr>
            <a:xfrm>
              <a:off x="95250" y="95250"/>
              <a:ext cx="1333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translate</a:t>
              </a:r>
              <a:endParaRPr sz="18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6. Tulkošana</a:t>
              </a:r>
              <a:endParaRPr b="1" sz="1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Profesionāla līmeņa tulkojumi.</a:t>
              </a:r>
              <a:endParaRPr b="0" sz="9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8" name="Google Shape;158;p18"/>
          <p:cNvGrpSpPr/>
          <p:nvPr/>
        </p:nvGrpSpPr>
        <p:grpSpPr>
          <a:xfrm>
            <a:off x="2190750" y="2667000"/>
            <a:ext cx="1524000" cy="1047900"/>
            <a:chOff x="0" y="0"/>
            <a:chExt cx="1524000" cy="1047900"/>
          </a:xfrm>
        </p:grpSpPr>
        <p:sp>
          <p:nvSpPr>
            <p:cNvPr id="159" name="Google Shape;159;p18"/>
            <p:cNvSpPr/>
            <p:nvPr/>
          </p:nvSpPr>
          <p:spPr>
            <a:xfrm>
              <a:off x="0" y="0"/>
              <a:ext cx="15240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8"/>
            <p:cNvSpPr txBox="1"/>
            <p:nvPr/>
          </p:nvSpPr>
          <p:spPr>
            <a:xfrm>
              <a:off x="95250" y="95250"/>
              <a:ext cx="1333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lightbulb</a:t>
              </a:r>
              <a:endParaRPr sz="18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7. Ideju ģenerators</a:t>
              </a:r>
              <a:endParaRPr b="1" sz="1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Biznesa un radošas idejas.</a:t>
              </a:r>
              <a:endParaRPr b="0" sz="9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1" name="Google Shape;161;p18"/>
          <p:cNvGrpSpPr/>
          <p:nvPr/>
        </p:nvGrpSpPr>
        <p:grpSpPr>
          <a:xfrm>
            <a:off x="3810000" y="2667000"/>
            <a:ext cx="1524000" cy="1047900"/>
            <a:chOff x="0" y="0"/>
            <a:chExt cx="1524000" cy="1047900"/>
          </a:xfrm>
        </p:grpSpPr>
        <p:sp>
          <p:nvSpPr>
            <p:cNvPr id="162" name="Google Shape;162;p18"/>
            <p:cNvSpPr/>
            <p:nvPr/>
          </p:nvSpPr>
          <p:spPr>
            <a:xfrm>
              <a:off x="0" y="0"/>
              <a:ext cx="15240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8"/>
            <p:cNvSpPr txBox="1"/>
            <p:nvPr/>
          </p:nvSpPr>
          <p:spPr>
            <a:xfrm>
              <a:off x="95250" y="95250"/>
              <a:ext cx="1333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description</a:t>
              </a:r>
              <a:endParaRPr sz="18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8. Analīze</a:t>
              </a:r>
              <a:endParaRPr b="1" sz="1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Dokumentu kopsavilkumi.</a:t>
              </a:r>
              <a:endParaRPr b="0" sz="9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4" name="Google Shape;164;p18"/>
          <p:cNvGrpSpPr/>
          <p:nvPr/>
        </p:nvGrpSpPr>
        <p:grpSpPr>
          <a:xfrm>
            <a:off x="5429250" y="2667000"/>
            <a:ext cx="1524000" cy="1047900"/>
            <a:chOff x="0" y="0"/>
            <a:chExt cx="1524000" cy="1047900"/>
          </a:xfrm>
        </p:grpSpPr>
        <p:sp>
          <p:nvSpPr>
            <p:cNvPr id="165" name="Google Shape;165;p18"/>
            <p:cNvSpPr/>
            <p:nvPr/>
          </p:nvSpPr>
          <p:spPr>
            <a:xfrm>
              <a:off x="0" y="0"/>
              <a:ext cx="15240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8"/>
            <p:cNvSpPr txBox="1"/>
            <p:nvPr/>
          </p:nvSpPr>
          <p:spPr>
            <a:xfrm>
              <a:off x="95250" y="95250"/>
              <a:ext cx="1333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calendar_today</a:t>
              </a:r>
              <a:endParaRPr sz="18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9. Produktivitāte</a:t>
              </a:r>
              <a:endParaRPr b="1" sz="1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Nedēļas darba plānošana.</a:t>
              </a:r>
              <a:endParaRPr b="0" sz="9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7" name="Google Shape;167;p18"/>
          <p:cNvGrpSpPr/>
          <p:nvPr/>
        </p:nvGrpSpPr>
        <p:grpSpPr>
          <a:xfrm>
            <a:off x="7048500" y="2667000"/>
            <a:ext cx="1524000" cy="1047900"/>
            <a:chOff x="0" y="0"/>
            <a:chExt cx="1524000" cy="1047900"/>
          </a:xfrm>
        </p:grpSpPr>
        <p:sp>
          <p:nvSpPr>
            <p:cNvPr id="168" name="Google Shape;168;p18"/>
            <p:cNvSpPr/>
            <p:nvPr/>
          </p:nvSpPr>
          <p:spPr>
            <a:xfrm>
              <a:off x="0" y="0"/>
              <a:ext cx="15240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8"/>
            <p:cNvSpPr txBox="1"/>
            <p:nvPr/>
          </p:nvSpPr>
          <p:spPr>
            <a:xfrm>
              <a:off x="95250" y="95250"/>
              <a:ext cx="1333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18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10. Attīstība</a:t>
              </a:r>
              <a:endParaRPr b="1" sz="1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Uzņēmuma izaugsmes stratēģijas.</a:t>
              </a:r>
              <a:endParaRPr b="0" sz="9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0" name="Google Shape;170;p18"/>
          <p:cNvGrpSpPr/>
          <p:nvPr/>
        </p:nvGrpSpPr>
        <p:grpSpPr>
          <a:xfrm>
            <a:off x="571500" y="4000500"/>
            <a:ext cx="8001000" cy="762000"/>
            <a:chOff x="0" y="0"/>
            <a:chExt cx="8001000" cy="762000"/>
          </a:xfrm>
        </p:grpSpPr>
        <p:sp>
          <p:nvSpPr>
            <p:cNvPr id="171" name="Google Shape;171;p18"/>
            <p:cNvSpPr/>
            <p:nvPr/>
          </p:nvSpPr>
          <p:spPr>
            <a:xfrm>
              <a:off x="0" y="0"/>
              <a:ext cx="8001000" cy="762000"/>
            </a:xfrm>
            <a:prstGeom prst="roundRect">
              <a:avLst>
                <a:gd fmla="val 20000" name="adj"/>
              </a:avLst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8"/>
            <p:cNvSpPr txBox="1"/>
            <p:nvPr/>
          </p:nvSpPr>
          <p:spPr>
            <a:xfrm>
              <a:off x="285750" y="142875"/>
              <a:ext cx="7429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Pro-padoms:</a:t>
              </a:r>
              <a:r>
                <a:rPr lang="en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Galvenais ir precīzs "Prompt" jeb uzdevums. Jo skaidrāk prasīsi, jo labāku rezultātu saņemsi!</a:t>
              </a:r>
              <a:endParaRPr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6286500" y="-1428750"/>
            <a:ext cx="2857500" cy="2857500"/>
          </a:xfrm>
          <a:prstGeom prst="ellipse">
            <a:avLst/>
          </a:prstGeom>
          <a:solidFill>
            <a:srgbClr val="4F46E5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571500" y="381000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4F46E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Efektīva komunikācija</a:t>
            </a:r>
            <a:endParaRPr b="0" sz="1400">
              <a:solidFill>
                <a:srgbClr val="4F46E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714375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Kā pareizi sarunāties ar ChatGPT?</a:t>
            </a:r>
            <a:endParaRPr b="0" sz="28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81" name="Google Shape;181;p19"/>
          <p:cNvGrpSpPr/>
          <p:nvPr/>
        </p:nvGrpSpPr>
        <p:grpSpPr>
          <a:xfrm>
            <a:off x="571500" y="1524000"/>
            <a:ext cx="3905400" cy="1428900"/>
            <a:chOff x="571500" y="1524000"/>
            <a:chExt cx="3905400" cy="1428900"/>
          </a:xfrm>
        </p:grpSpPr>
        <p:sp>
          <p:nvSpPr>
            <p:cNvPr id="182" name="Google Shape;182;p19"/>
            <p:cNvSpPr/>
            <p:nvPr/>
          </p:nvSpPr>
          <p:spPr>
            <a:xfrm>
              <a:off x="571500" y="1524000"/>
              <a:ext cx="3905400" cy="14289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9"/>
            <p:cNvSpPr txBox="1"/>
            <p:nvPr/>
          </p:nvSpPr>
          <p:spPr>
            <a:xfrm>
              <a:off x="762000" y="1696085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block</a:t>
              </a:r>
              <a:endParaRPr sz="200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4" name="Google Shape;184;p19"/>
            <p:cNvSpPr txBox="1"/>
            <p:nvPr/>
          </p:nvSpPr>
          <p:spPr>
            <a:xfrm>
              <a:off x="1238250" y="1666875"/>
              <a:ext cx="304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Slikts pieprasījums</a:t>
              </a:r>
              <a:endParaRPr b="1" sz="12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5" name="Google Shape;185;p19"/>
            <p:cNvSpPr txBox="1"/>
            <p:nvPr/>
          </p:nvSpPr>
          <p:spPr>
            <a:xfrm>
              <a:off x="762000" y="2047875"/>
              <a:ext cx="3524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"Uzraksti reklāmu."</a:t>
              </a:r>
              <a:endParaRPr b="0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Rezultāts: Vispārīgs, neprecīzs un bieži vien nederīgs teksts.</a:t>
              </a:r>
              <a:endParaRPr b="0"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6" name="Google Shape;186;p19"/>
          <p:cNvGrpSpPr/>
          <p:nvPr/>
        </p:nvGrpSpPr>
        <p:grpSpPr>
          <a:xfrm>
            <a:off x="4667250" y="1524000"/>
            <a:ext cx="3905400" cy="1428900"/>
            <a:chOff x="4667250" y="1524000"/>
            <a:chExt cx="3905400" cy="1428900"/>
          </a:xfrm>
        </p:grpSpPr>
        <p:sp>
          <p:nvSpPr>
            <p:cNvPr id="187" name="Google Shape;187;p19"/>
            <p:cNvSpPr/>
            <p:nvPr/>
          </p:nvSpPr>
          <p:spPr>
            <a:xfrm>
              <a:off x="4667250" y="1524000"/>
              <a:ext cx="3905400" cy="14289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9"/>
            <p:cNvSpPr txBox="1"/>
            <p:nvPr/>
          </p:nvSpPr>
          <p:spPr>
            <a:xfrm>
              <a:off x="4857750" y="1696085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20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9" name="Google Shape;189;p19"/>
            <p:cNvSpPr txBox="1"/>
            <p:nvPr/>
          </p:nvSpPr>
          <p:spPr>
            <a:xfrm>
              <a:off x="5334000" y="1666875"/>
              <a:ext cx="304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Labs pieprasījums</a:t>
              </a:r>
              <a:endParaRPr b="1" sz="12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0" name="Google Shape;190;p19"/>
            <p:cNvSpPr txBox="1"/>
            <p:nvPr/>
          </p:nvSpPr>
          <p:spPr>
            <a:xfrm>
              <a:off x="4857750" y="2047875"/>
              <a:ext cx="3524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"Uzraksti Facebook reklāmu AI kursam iesācējiem Latvijā. Mērķauditorija 25–45 gadi. Teksts līdz 150 vārdiem."</a:t>
              </a:r>
              <a:endParaRPr b="0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91" name="Google Shape;191;p19"/>
          <p:cNvSpPr/>
          <p:nvPr/>
        </p:nvSpPr>
        <p:spPr>
          <a:xfrm>
            <a:off x="571500" y="3238500"/>
            <a:ext cx="8001000" cy="762000"/>
          </a:xfrm>
          <a:prstGeom prst="roundRect">
            <a:avLst>
              <a:gd fmla="val 2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571500" y="323850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Formula: Loma + Mērķis + Auditorija + Formāts + Rezultāts</a:t>
            </a:r>
            <a:endParaRPr b="1" sz="1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571500" y="4191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Jo precīzāks jautājums, jo labāka atbilde.</a:t>
            </a:r>
            <a:endParaRPr b="0" i="1" sz="11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2"/>
                </a:solidFill>
              </a:rPr>
              <a:t>This is patent and copyright owns only SIA INTELEKTA SKOLA- Šis patents un viņa autortīesības un kopijtiesības pieder Intelekta Skola SIA</a:t>
            </a:r>
            <a:endParaRPr sz="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6286500" y="-1428750"/>
            <a:ext cx="2857500" cy="2857500"/>
          </a:xfrm>
          <a:prstGeom prst="ellipse">
            <a:avLst/>
          </a:prstGeom>
          <a:solidFill>
            <a:srgbClr val="4F46E5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571500" y="381000"/>
            <a:ext cx="8001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4F46E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Praktiskie piemēri</a:t>
            </a:r>
            <a:endParaRPr b="0" sz="1400">
              <a:solidFill>
                <a:srgbClr val="4F46E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571500" y="66675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50 GATAVI PROMPTI JŪSU DARBAM</a:t>
            </a:r>
            <a:endParaRPr b="0" sz="28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03" name="Google Shape;203;p20"/>
          <p:cNvGrpSpPr/>
          <p:nvPr/>
        </p:nvGrpSpPr>
        <p:grpSpPr>
          <a:xfrm>
            <a:off x="571500" y="1333500"/>
            <a:ext cx="1952700" cy="2190900"/>
            <a:chOff x="571500" y="1333500"/>
            <a:chExt cx="1952700" cy="2190900"/>
          </a:xfrm>
        </p:grpSpPr>
        <p:sp>
          <p:nvSpPr>
            <p:cNvPr id="204" name="Google Shape;204;p20"/>
            <p:cNvSpPr/>
            <p:nvPr/>
          </p:nvSpPr>
          <p:spPr>
            <a:xfrm>
              <a:off x="571500" y="1333500"/>
              <a:ext cx="1952700" cy="2190900"/>
            </a:xfrm>
            <a:prstGeom prst="roundRect">
              <a:avLst>
                <a:gd fmla="val 7804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0"/>
            <p:cNvSpPr txBox="1"/>
            <p:nvPr/>
          </p:nvSpPr>
          <p:spPr>
            <a:xfrm>
              <a:off x="762000" y="155321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share</a:t>
              </a:r>
              <a:endParaRPr sz="20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6" name="Google Shape;206;p20"/>
            <p:cNvSpPr txBox="1"/>
            <p:nvPr/>
          </p:nvSpPr>
          <p:spPr>
            <a:xfrm>
              <a:off x="762000" y="1905000"/>
              <a:ext cx="1571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Sociālie tīkli</a:t>
              </a:r>
              <a:endParaRPr b="1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7" name="Google Shape;207;p20"/>
            <p:cNvSpPr txBox="1"/>
            <p:nvPr/>
          </p:nvSpPr>
          <p:spPr>
            <a:xfrm>
              <a:off x="762000" y="2190750"/>
              <a:ext cx="15717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30 Instagram idejas</a:t>
              </a:r>
              <a:endParaRPr b="0"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FB ieraksts par AI</a:t>
              </a:r>
              <a:endParaRPr b="0"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LinkedIn vadītājiem</a:t>
              </a:r>
              <a:endParaRPr b="0"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8" name="Google Shape;208;p20"/>
          <p:cNvGrpSpPr/>
          <p:nvPr/>
        </p:nvGrpSpPr>
        <p:grpSpPr>
          <a:xfrm>
            <a:off x="2619375" y="1333500"/>
            <a:ext cx="1952700" cy="2190900"/>
            <a:chOff x="2619375" y="1333500"/>
            <a:chExt cx="1952700" cy="2190900"/>
          </a:xfrm>
        </p:grpSpPr>
        <p:sp>
          <p:nvSpPr>
            <p:cNvPr id="209" name="Google Shape;209;p20"/>
            <p:cNvSpPr/>
            <p:nvPr/>
          </p:nvSpPr>
          <p:spPr>
            <a:xfrm>
              <a:off x="2619375" y="1333500"/>
              <a:ext cx="1952700" cy="2190900"/>
            </a:xfrm>
            <a:prstGeom prst="roundRect">
              <a:avLst>
                <a:gd fmla="val 7804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2809875" y="155321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shopping_cart</a:t>
              </a:r>
              <a:endParaRPr sz="20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1" name="Google Shape;211;p20"/>
            <p:cNvSpPr txBox="1"/>
            <p:nvPr/>
          </p:nvSpPr>
          <p:spPr>
            <a:xfrm>
              <a:off x="2809875" y="1905000"/>
              <a:ext cx="1571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Pārdošana</a:t>
              </a:r>
              <a:endParaRPr b="1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2" name="Google Shape;212;p20"/>
            <p:cNvSpPr txBox="1"/>
            <p:nvPr/>
          </p:nvSpPr>
          <p:spPr>
            <a:xfrm>
              <a:off x="2809875" y="2190750"/>
              <a:ext cx="15717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Pārdošanas e-pasts</a:t>
              </a:r>
              <a:endParaRPr b="0"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Apmācību piedāvājums</a:t>
              </a:r>
              <a:endParaRPr b="0"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Uzrunas skripts</a:t>
              </a:r>
              <a:endParaRPr b="0"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3" name="Google Shape;213;p20"/>
          <p:cNvGrpSpPr/>
          <p:nvPr/>
        </p:nvGrpSpPr>
        <p:grpSpPr>
          <a:xfrm>
            <a:off x="4667250" y="1333500"/>
            <a:ext cx="1952700" cy="2190900"/>
            <a:chOff x="4667250" y="1333500"/>
            <a:chExt cx="1952700" cy="2190900"/>
          </a:xfrm>
        </p:grpSpPr>
        <p:sp>
          <p:nvSpPr>
            <p:cNvPr id="214" name="Google Shape;214;p20"/>
            <p:cNvSpPr/>
            <p:nvPr/>
          </p:nvSpPr>
          <p:spPr>
            <a:xfrm>
              <a:off x="4667250" y="1333500"/>
              <a:ext cx="1952700" cy="2190900"/>
            </a:xfrm>
            <a:prstGeom prst="roundRect">
              <a:avLst>
                <a:gd fmla="val 7804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0"/>
            <p:cNvSpPr txBox="1"/>
            <p:nvPr/>
          </p:nvSpPr>
          <p:spPr>
            <a:xfrm>
              <a:off x="4857750" y="155321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event_available</a:t>
              </a:r>
              <a:endParaRPr sz="20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6" name="Google Shape;216;p20"/>
            <p:cNvSpPr txBox="1"/>
            <p:nvPr/>
          </p:nvSpPr>
          <p:spPr>
            <a:xfrm>
              <a:off x="4857750" y="1905000"/>
              <a:ext cx="1571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Produktivitāte</a:t>
              </a:r>
              <a:endParaRPr b="1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7" name="Google Shape;217;p20"/>
            <p:cNvSpPr txBox="1"/>
            <p:nvPr/>
          </p:nvSpPr>
          <p:spPr>
            <a:xfrm>
              <a:off x="4857750" y="2190750"/>
              <a:ext cx="15717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Nedēļas plāns</a:t>
              </a:r>
              <a:endParaRPr b="0"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Prioritāšu saraksts</a:t>
              </a:r>
              <a:endParaRPr b="0"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Projektu organizēšana</a:t>
              </a:r>
              <a:endParaRPr b="0"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8" name="Google Shape;218;p20"/>
          <p:cNvGrpSpPr/>
          <p:nvPr/>
        </p:nvGrpSpPr>
        <p:grpSpPr>
          <a:xfrm>
            <a:off x="6715125" y="1333500"/>
            <a:ext cx="1952700" cy="2190900"/>
            <a:chOff x="6715125" y="1333500"/>
            <a:chExt cx="1952700" cy="2190900"/>
          </a:xfrm>
        </p:grpSpPr>
        <p:sp>
          <p:nvSpPr>
            <p:cNvPr id="219" name="Google Shape;219;p20"/>
            <p:cNvSpPr/>
            <p:nvPr/>
          </p:nvSpPr>
          <p:spPr>
            <a:xfrm>
              <a:off x="6715125" y="1333500"/>
              <a:ext cx="1952700" cy="2190900"/>
            </a:xfrm>
            <a:prstGeom prst="roundRect">
              <a:avLst>
                <a:gd fmla="val 7804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0"/>
            <p:cNvSpPr txBox="1"/>
            <p:nvPr/>
          </p:nvSpPr>
          <p:spPr>
            <a:xfrm>
              <a:off x="6905625" y="155321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business</a:t>
              </a:r>
              <a:endParaRPr sz="20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21" name="Google Shape;221;p20"/>
            <p:cNvSpPr txBox="1"/>
            <p:nvPr/>
          </p:nvSpPr>
          <p:spPr>
            <a:xfrm>
              <a:off x="6905625" y="1905000"/>
              <a:ext cx="1571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Bizness</a:t>
              </a:r>
              <a:endParaRPr b="1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2" name="Google Shape;222;p20"/>
            <p:cNvSpPr txBox="1"/>
            <p:nvPr/>
          </p:nvSpPr>
          <p:spPr>
            <a:xfrm>
              <a:off x="6905625" y="2190750"/>
              <a:ext cx="15717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20 biznesa idejas</a:t>
              </a:r>
              <a:endParaRPr b="0"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Modeļa analīze</a:t>
              </a:r>
              <a:endParaRPr b="0"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• Jauni ienākumu avoti</a:t>
              </a:r>
              <a:endParaRPr b="0"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23" name="Google Shape;223;p20"/>
          <p:cNvSpPr/>
          <p:nvPr/>
        </p:nvSpPr>
        <p:spPr>
          <a:xfrm>
            <a:off x="571500" y="3905250"/>
            <a:ext cx="8001000" cy="666900"/>
          </a:xfrm>
          <a:prstGeom prst="roundRect">
            <a:avLst>
              <a:gd fmla="val 22857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571500" y="390525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Sāciet lietot AI savā ikdienā jau šodien!</a:t>
            </a:r>
            <a:endParaRPr b="1" sz="1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2"/>
                </a:solidFill>
              </a:rPr>
              <a:t>This is patent and copyright owns only SIA INTELEKTA SKOLA- Šis patents un viņa autortīesības un kopijtiesības pieder Intelekta Skola SIA</a:t>
            </a:r>
            <a:endParaRPr sz="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6286500" y="-1428750"/>
            <a:ext cx="2857500" cy="2857500"/>
          </a:xfrm>
          <a:prstGeom prst="ellipse">
            <a:avLst/>
          </a:prstGeom>
          <a:solidFill>
            <a:srgbClr val="4F46E5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571500" y="381000"/>
            <a:ext cx="8001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4F46E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7. AI DARBAM UN PRODUKTIVITĀTEI</a:t>
            </a:r>
            <a:endParaRPr b="0" sz="1400">
              <a:solidFill>
                <a:srgbClr val="4F46E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571500" y="66675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AI TRANSFORMĒ JŪSU DARBA DIENU</a:t>
            </a:r>
            <a:endParaRPr b="0" sz="28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34" name="Google Shape;234;p21"/>
          <p:cNvGrpSpPr/>
          <p:nvPr/>
        </p:nvGrpSpPr>
        <p:grpSpPr>
          <a:xfrm>
            <a:off x="571500" y="1333500"/>
            <a:ext cx="1524000" cy="1428900"/>
            <a:chOff x="571500" y="1333500"/>
            <a:chExt cx="1524000" cy="1428900"/>
          </a:xfrm>
        </p:grpSpPr>
        <p:sp>
          <p:nvSpPr>
            <p:cNvPr id="235" name="Google Shape;235;p21"/>
            <p:cNvSpPr/>
            <p:nvPr/>
          </p:nvSpPr>
          <p:spPr>
            <a:xfrm>
              <a:off x="571500" y="1333500"/>
              <a:ext cx="1524000" cy="14289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1"/>
            <p:cNvSpPr txBox="1"/>
            <p:nvPr/>
          </p:nvSpPr>
          <p:spPr>
            <a:xfrm>
              <a:off x="762000" y="155321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edit_note</a:t>
              </a:r>
              <a:endParaRPr sz="20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37" name="Google Shape;237;p21"/>
            <p:cNvSpPr txBox="1"/>
            <p:nvPr/>
          </p:nvSpPr>
          <p:spPr>
            <a:xfrm>
              <a:off x="762000" y="2000250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Rakstīt ātrāk</a:t>
              </a:r>
              <a:endParaRPr b="1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8" name="Google Shape;238;p21"/>
          <p:cNvGrpSpPr/>
          <p:nvPr/>
        </p:nvGrpSpPr>
        <p:grpSpPr>
          <a:xfrm>
            <a:off x="2190750" y="1333500"/>
            <a:ext cx="1524000" cy="1428900"/>
            <a:chOff x="2190750" y="1333500"/>
            <a:chExt cx="1524000" cy="1428900"/>
          </a:xfrm>
        </p:grpSpPr>
        <p:sp>
          <p:nvSpPr>
            <p:cNvPr id="239" name="Google Shape;239;p21"/>
            <p:cNvSpPr/>
            <p:nvPr/>
          </p:nvSpPr>
          <p:spPr>
            <a:xfrm>
              <a:off x="2190750" y="1333500"/>
              <a:ext cx="1524000" cy="14289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1"/>
            <p:cNvSpPr txBox="1"/>
            <p:nvPr/>
          </p:nvSpPr>
          <p:spPr>
            <a:xfrm>
              <a:off x="2381250" y="155321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search</a:t>
              </a:r>
              <a:endParaRPr sz="20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41" name="Google Shape;241;p21"/>
            <p:cNvSpPr txBox="1"/>
            <p:nvPr/>
          </p:nvSpPr>
          <p:spPr>
            <a:xfrm>
              <a:off x="2381250" y="2000250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Atrast informāciju ātrāk</a:t>
              </a:r>
              <a:endParaRPr b="1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2" name="Google Shape;242;p21"/>
          <p:cNvGrpSpPr/>
          <p:nvPr/>
        </p:nvGrpSpPr>
        <p:grpSpPr>
          <a:xfrm>
            <a:off x="3810000" y="1333500"/>
            <a:ext cx="1524000" cy="1428900"/>
            <a:chOff x="3810000" y="1333500"/>
            <a:chExt cx="1524000" cy="1428900"/>
          </a:xfrm>
        </p:grpSpPr>
        <p:sp>
          <p:nvSpPr>
            <p:cNvPr id="243" name="Google Shape;243;p21"/>
            <p:cNvSpPr/>
            <p:nvPr/>
          </p:nvSpPr>
          <p:spPr>
            <a:xfrm>
              <a:off x="3810000" y="1333500"/>
              <a:ext cx="1524000" cy="14289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1"/>
            <p:cNvSpPr txBox="1"/>
            <p:nvPr/>
          </p:nvSpPr>
          <p:spPr>
            <a:xfrm>
              <a:off x="4000500" y="155321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auto_awesome</a:t>
              </a:r>
              <a:endParaRPr sz="20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45" name="Google Shape;245;p21"/>
            <p:cNvSpPr txBox="1"/>
            <p:nvPr/>
          </p:nvSpPr>
          <p:spPr>
            <a:xfrm>
              <a:off x="4000500" y="2000250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Samazināt rutīnas darbu</a:t>
              </a:r>
              <a:endParaRPr b="1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6" name="Google Shape;246;p21"/>
          <p:cNvGrpSpPr/>
          <p:nvPr/>
        </p:nvGrpSpPr>
        <p:grpSpPr>
          <a:xfrm>
            <a:off x="5429250" y="1333500"/>
            <a:ext cx="1524000" cy="1428900"/>
            <a:chOff x="5429250" y="1333500"/>
            <a:chExt cx="1524000" cy="1428900"/>
          </a:xfrm>
        </p:grpSpPr>
        <p:sp>
          <p:nvSpPr>
            <p:cNvPr id="247" name="Google Shape;247;p21"/>
            <p:cNvSpPr/>
            <p:nvPr/>
          </p:nvSpPr>
          <p:spPr>
            <a:xfrm>
              <a:off x="5429250" y="1333500"/>
              <a:ext cx="1524000" cy="14289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1"/>
            <p:cNvSpPr txBox="1"/>
            <p:nvPr/>
          </p:nvSpPr>
          <p:spPr>
            <a:xfrm>
              <a:off x="5619750" y="155321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description</a:t>
              </a:r>
              <a:endParaRPr sz="20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49" name="Google Shape;249;p21"/>
            <p:cNvSpPr txBox="1"/>
            <p:nvPr/>
          </p:nvSpPr>
          <p:spPr>
            <a:xfrm>
              <a:off x="5619750" y="2000250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Veidot dokumentus</a:t>
              </a:r>
              <a:endParaRPr b="1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0" name="Google Shape;250;p21"/>
          <p:cNvGrpSpPr/>
          <p:nvPr/>
        </p:nvGrpSpPr>
        <p:grpSpPr>
          <a:xfrm>
            <a:off x="7048500" y="1333500"/>
            <a:ext cx="1524000" cy="1428900"/>
            <a:chOff x="7048500" y="1333500"/>
            <a:chExt cx="1524000" cy="1428900"/>
          </a:xfrm>
        </p:grpSpPr>
        <p:sp>
          <p:nvSpPr>
            <p:cNvPr id="251" name="Google Shape;251;p21"/>
            <p:cNvSpPr/>
            <p:nvPr/>
          </p:nvSpPr>
          <p:spPr>
            <a:xfrm>
              <a:off x="7048500" y="1333500"/>
              <a:ext cx="1524000" cy="14289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1"/>
            <p:cNvSpPr txBox="1"/>
            <p:nvPr/>
          </p:nvSpPr>
          <p:spPr>
            <a:xfrm>
              <a:off x="7239000" y="155321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settings_suggest</a:t>
              </a:r>
              <a:endParaRPr sz="20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53" name="Google Shape;253;p21"/>
            <p:cNvSpPr txBox="1"/>
            <p:nvPr/>
          </p:nvSpPr>
          <p:spPr>
            <a:xfrm>
              <a:off x="7239000" y="2000250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Automatizēt procesus</a:t>
              </a:r>
              <a:endParaRPr b="1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54" name="Google Shape;254;p21"/>
          <p:cNvSpPr/>
          <p:nvPr/>
        </p:nvSpPr>
        <p:spPr>
          <a:xfrm>
            <a:off x="571500" y="3238500"/>
            <a:ext cx="8001000" cy="762000"/>
          </a:xfrm>
          <a:prstGeom prst="roundRect">
            <a:avLst>
              <a:gd fmla="val 2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571500" y="323850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Daudzi cilvēki ietaupa 5–20 stundas nedēļā!</a:t>
            </a:r>
            <a:endParaRPr b="1" sz="1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571500" y="41910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Efektivitāte nav mērķis, bet gan līdzeklis nozīmīgākam darbam.</a:t>
            </a:r>
            <a:endParaRPr b="0" i="1" sz="11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2"/>
                </a:solidFill>
              </a:rPr>
              <a:t>This is patent and copyright owns only SIA INTELEKTA SKOLA- Šis patents un viņa autortīesības un kopijtiesības pieder Intelekta Skola SIA</a:t>
            </a:r>
            <a:endParaRPr sz="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2"/>
          <p:cNvSpPr/>
          <p:nvPr/>
        </p:nvSpPr>
        <p:spPr>
          <a:xfrm>
            <a:off x="6286500" y="-1428750"/>
            <a:ext cx="2857500" cy="2857500"/>
          </a:xfrm>
          <a:prstGeom prst="ellipse">
            <a:avLst/>
          </a:prstGeom>
          <a:solidFill>
            <a:srgbClr val="4F46E5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571500" y="381000"/>
            <a:ext cx="8001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4F46E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8. AI UZŅĒMĒJIEM</a:t>
            </a:r>
            <a:endParaRPr b="0" sz="1400">
              <a:solidFill>
                <a:srgbClr val="4F46E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65" name="Google Shape;265;p22"/>
          <p:cNvSpPr txBox="1"/>
          <p:nvPr/>
        </p:nvSpPr>
        <p:spPr>
          <a:xfrm>
            <a:off x="571500" y="66675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AI TRANSFORMĒ UZŅĒMĒJDARBĪBU</a:t>
            </a:r>
            <a:endParaRPr b="0" sz="28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66" name="Google Shape;266;p22"/>
          <p:cNvGrpSpPr/>
          <p:nvPr/>
        </p:nvGrpSpPr>
        <p:grpSpPr>
          <a:xfrm>
            <a:off x="571500" y="1333500"/>
            <a:ext cx="1238400" cy="1238400"/>
            <a:chOff x="0" y="0"/>
            <a:chExt cx="1238400" cy="1238400"/>
          </a:xfrm>
        </p:grpSpPr>
        <p:sp>
          <p:nvSpPr>
            <p:cNvPr id="267" name="Google Shape;267;p22"/>
            <p:cNvSpPr/>
            <p:nvPr/>
          </p:nvSpPr>
          <p:spPr>
            <a:xfrm>
              <a:off x="0" y="0"/>
              <a:ext cx="1238400" cy="1238400"/>
            </a:xfrm>
            <a:prstGeom prst="roundRect">
              <a:avLst>
                <a:gd fmla="val 12307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2"/>
            <p:cNvSpPr txBox="1"/>
            <p:nvPr/>
          </p:nvSpPr>
          <p:spPr>
            <a:xfrm>
              <a:off x="190500" y="21971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campaign</a:t>
              </a:r>
              <a:endParaRPr sz="20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69" name="Google Shape;269;p22"/>
            <p:cNvSpPr txBox="1"/>
            <p:nvPr/>
          </p:nvSpPr>
          <p:spPr>
            <a:xfrm>
              <a:off x="190500" y="666750"/>
              <a:ext cx="857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Mārketingam</a:t>
              </a:r>
              <a:endParaRPr b="1" sz="1018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0" name="Google Shape;270;p22"/>
          <p:cNvGrpSpPr/>
          <p:nvPr/>
        </p:nvGrpSpPr>
        <p:grpSpPr>
          <a:xfrm>
            <a:off x="1924050" y="1333500"/>
            <a:ext cx="1238400" cy="1238400"/>
            <a:chOff x="0" y="0"/>
            <a:chExt cx="1238400" cy="1238400"/>
          </a:xfrm>
        </p:grpSpPr>
        <p:sp>
          <p:nvSpPr>
            <p:cNvPr id="271" name="Google Shape;271;p22"/>
            <p:cNvSpPr/>
            <p:nvPr/>
          </p:nvSpPr>
          <p:spPr>
            <a:xfrm>
              <a:off x="0" y="0"/>
              <a:ext cx="1238400" cy="1238400"/>
            </a:xfrm>
            <a:prstGeom prst="roundRect">
              <a:avLst>
                <a:gd fmla="val 12307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2"/>
            <p:cNvSpPr txBox="1"/>
            <p:nvPr/>
          </p:nvSpPr>
          <p:spPr>
            <a:xfrm>
              <a:off x="190500" y="21971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payments</a:t>
              </a:r>
              <a:endParaRPr sz="20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73" name="Google Shape;273;p22"/>
            <p:cNvSpPr txBox="1"/>
            <p:nvPr/>
          </p:nvSpPr>
          <p:spPr>
            <a:xfrm>
              <a:off x="190500" y="666750"/>
              <a:ext cx="857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Pārdošanai</a:t>
              </a:r>
              <a:endParaRPr b="1" sz="1018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4" name="Google Shape;274;p22"/>
          <p:cNvGrpSpPr/>
          <p:nvPr/>
        </p:nvGrpSpPr>
        <p:grpSpPr>
          <a:xfrm>
            <a:off x="3276600" y="1333500"/>
            <a:ext cx="1238400" cy="1238400"/>
            <a:chOff x="0" y="0"/>
            <a:chExt cx="1238400" cy="1238400"/>
          </a:xfrm>
        </p:grpSpPr>
        <p:sp>
          <p:nvSpPr>
            <p:cNvPr id="275" name="Google Shape;275;p22"/>
            <p:cNvSpPr/>
            <p:nvPr/>
          </p:nvSpPr>
          <p:spPr>
            <a:xfrm>
              <a:off x="0" y="0"/>
              <a:ext cx="1238400" cy="1238400"/>
            </a:xfrm>
            <a:prstGeom prst="roundRect">
              <a:avLst>
                <a:gd fmla="val 12307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2"/>
            <p:cNvSpPr txBox="1"/>
            <p:nvPr/>
          </p:nvSpPr>
          <p:spPr>
            <a:xfrm>
              <a:off x="190500" y="21971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support_agent</a:t>
              </a:r>
              <a:endParaRPr sz="20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77" name="Google Shape;277;p22"/>
            <p:cNvSpPr txBox="1"/>
            <p:nvPr/>
          </p:nvSpPr>
          <p:spPr>
            <a:xfrm>
              <a:off x="190500" y="666750"/>
              <a:ext cx="857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Klientu apkalpošanai</a:t>
              </a:r>
              <a:endParaRPr b="1" sz="1018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8" name="Google Shape;278;p22"/>
          <p:cNvGrpSpPr/>
          <p:nvPr/>
        </p:nvGrpSpPr>
        <p:grpSpPr>
          <a:xfrm>
            <a:off x="4629150" y="1333500"/>
            <a:ext cx="1238400" cy="1238400"/>
            <a:chOff x="0" y="0"/>
            <a:chExt cx="1238400" cy="1238400"/>
          </a:xfrm>
        </p:grpSpPr>
        <p:sp>
          <p:nvSpPr>
            <p:cNvPr id="279" name="Google Shape;279;p22"/>
            <p:cNvSpPr/>
            <p:nvPr/>
          </p:nvSpPr>
          <p:spPr>
            <a:xfrm>
              <a:off x="0" y="0"/>
              <a:ext cx="1238400" cy="1238400"/>
            </a:xfrm>
            <a:prstGeom prst="roundRect">
              <a:avLst>
                <a:gd fmla="val 12307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2"/>
            <p:cNvSpPr txBox="1"/>
            <p:nvPr/>
          </p:nvSpPr>
          <p:spPr>
            <a:xfrm>
              <a:off x="190500" y="21971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draw</a:t>
              </a:r>
              <a:endParaRPr sz="20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81" name="Google Shape;281;p22"/>
            <p:cNvSpPr txBox="1"/>
            <p:nvPr/>
          </p:nvSpPr>
          <p:spPr>
            <a:xfrm>
              <a:off x="190500" y="666750"/>
              <a:ext cx="857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Satura veidošanai</a:t>
              </a:r>
              <a:endParaRPr b="1" sz="1018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2" name="Google Shape;282;p22"/>
          <p:cNvGrpSpPr/>
          <p:nvPr/>
        </p:nvGrpSpPr>
        <p:grpSpPr>
          <a:xfrm>
            <a:off x="5981700" y="1333500"/>
            <a:ext cx="1238400" cy="1238400"/>
            <a:chOff x="0" y="0"/>
            <a:chExt cx="1238400" cy="1238400"/>
          </a:xfrm>
        </p:grpSpPr>
        <p:sp>
          <p:nvSpPr>
            <p:cNvPr id="283" name="Google Shape;283;p22"/>
            <p:cNvSpPr/>
            <p:nvPr/>
          </p:nvSpPr>
          <p:spPr>
            <a:xfrm>
              <a:off x="0" y="0"/>
              <a:ext cx="1238400" cy="1238400"/>
            </a:xfrm>
            <a:prstGeom prst="roundRect">
              <a:avLst>
                <a:gd fmla="val 12307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2"/>
            <p:cNvSpPr txBox="1"/>
            <p:nvPr/>
          </p:nvSpPr>
          <p:spPr>
            <a:xfrm>
              <a:off x="190500" y="21971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business_center</a:t>
              </a:r>
              <a:endParaRPr sz="20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85" name="Google Shape;285;p22"/>
            <p:cNvSpPr txBox="1"/>
            <p:nvPr/>
          </p:nvSpPr>
          <p:spPr>
            <a:xfrm>
              <a:off x="190500" y="666750"/>
              <a:ext cx="857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Biznesa plānošanai</a:t>
              </a:r>
              <a:endParaRPr b="1" sz="1018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6" name="Google Shape;286;p22"/>
          <p:cNvGrpSpPr/>
          <p:nvPr/>
        </p:nvGrpSpPr>
        <p:grpSpPr>
          <a:xfrm>
            <a:off x="7334250" y="1333500"/>
            <a:ext cx="1238400" cy="1238400"/>
            <a:chOff x="0" y="0"/>
            <a:chExt cx="1238400" cy="1238400"/>
          </a:xfrm>
        </p:grpSpPr>
        <p:sp>
          <p:nvSpPr>
            <p:cNvPr id="287" name="Google Shape;287;p22"/>
            <p:cNvSpPr/>
            <p:nvPr/>
          </p:nvSpPr>
          <p:spPr>
            <a:xfrm>
              <a:off x="0" y="0"/>
              <a:ext cx="1238400" cy="1238400"/>
            </a:xfrm>
            <a:prstGeom prst="roundRect">
              <a:avLst>
                <a:gd fmla="val 12307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2"/>
            <p:cNvSpPr txBox="1"/>
            <p:nvPr/>
          </p:nvSpPr>
          <p:spPr>
            <a:xfrm>
              <a:off x="190500" y="21971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insights</a:t>
              </a:r>
              <a:endParaRPr sz="20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89" name="Google Shape;289;p22"/>
            <p:cNvSpPr txBox="1"/>
            <p:nvPr/>
          </p:nvSpPr>
          <p:spPr>
            <a:xfrm>
              <a:off x="190500" y="666750"/>
              <a:ext cx="857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Tirgus izpētei</a:t>
              </a:r>
              <a:endParaRPr b="1" sz="1018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90" name="Google Shape;290;p22"/>
          <p:cNvSpPr/>
          <p:nvPr/>
        </p:nvSpPr>
        <p:spPr>
          <a:xfrm>
            <a:off x="571500" y="2952750"/>
            <a:ext cx="8001000" cy="666900"/>
          </a:xfrm>
          <a:prstGeom prst="roundRect">
            <a:avLst>
              <a:gd fmla="val 22857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571500" y="2952750"/>
            <a:ext cx="8001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AI nav darbinieka aizvietotājs. Tas ir produktivitātes instruments.</a:t>
            </a:r>
            <a:endParaRPr b="1" sz="1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Google Shape;292;p22"/>
          <p:cNvSpPr txBox="1"/>
          <p:nvPr/>
        </p:nvSpPr>
        <p:spPr>
          <a:xfrm>
            <a:off x="571500" y="4000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18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Uzņēmēji, kas pielāgojas, iegūst netaisnīgas priekšrocības tirgū.</a:t>
            </a:r>
            <a:endParaRPr b="0" i="1" sz="1018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3" name="Google Shape;293;p22"/>
          <p:cNvSpPr txBox="1"/>
          <p:nvPr/>
        </p:nvSpPr>
        <p:spPr>
          <a:xfrm>
            <a:off x="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2"/>
                </a:solidFill>
              </a:rPr>
              <a:t>This is patent and copyright owns only SIA INTELEKTA SKOLA- Šis patents un viņa autortīesības un kopijtiesības pieder Intelekta Skola SIA</a:t>
            </a:r>
            <a:endParaRPr sz="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3"/>
          <p:cNvSpPr/>
          <p:nvPr/>
        </p:nvSpPr>
        <p:spPr>
          <a:xfrm>
            <a:off x="6286500" y="-1428750"/>
            <a:ext cx="2857500" cy="2857500"/>
          </a:xfrm>
          <a:prstGeom prst="ellipse">
            <a:avLst/>
          </a:prstGeom>
          <a:solidFill>
            <a:srgbClr val="4F46E5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571500" y="381000"/>
            <a:ext cx="8001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4F46E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10. NĀKOTNES IESPĒJAS</a:t>
            </a:r>
            <a:endParaRPr b="0" sz="1400">
              <a:solidFill>
                <a:srgbClr val="4F46E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01" name="Google Shape;301;p23"/>
          <p:cNvSpPr txBox="1"/>
          <p:nvPr/>
        </p:nvSpPr>
        <p:spPr>
          <a:xfrm>
            <a:off x="571500" y="66675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9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TIE, KURI IZMANTOS AI, IEGŪS PRIEKŠROCĪBAS</a:t>
            </a:r>
            <a:endParaRPr b="0" sz="259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302" name="Google Shape;302;p23"/>
          <p:cNvGrpSpPr/>
          <p:nvPr/>
        </p:nvGrpSpPr>
        <p:grpSpPr>
          <a:xfrm>
            <a:off x="571500" y="1333500"/>
            <a:ext cx="1952700" cy="1428900"/>
            <a:chOff x="571500" y="1333500"/>
            <a:chExt cx="1952700" cy="1428900"/>
          </a:xfrm>
        </p:grpSpPr>
        <p:sp>
          <p:nvSpPr>
            <p:cNvPr id="303" name="Google Shape;303;p23"/>
            <p:cNvSpPr/>
            <p:nvPr/>
          </p:nvSpPr>
          <p:spPr>
            <a:xfrm>
              <a:off x="571500" y="1333500"/>
              <a:ext cx="1952700" cy="14289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3"/>
            <p:cNvSpPr txBox="1"/>
            <p:nvPr/>
          </p:nvSpPr>
          <p:spPr>
            <a:xfrm>
              <a:off x="809625" y="1603756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speed</a:t>
              </a:r>
              <a:endParaRPr sz="22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05" name="Google Shape;305;p23"/>
            <p:cNvSpPr txBox="1"/>
            <p:nvPr/>
          </p:nvSpPr>
          <p:spPr>
            <a:xfrm>
              <a:off x="809625" y="2000250"/>
              <a:ext cx="14763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Strādās ātrāk</a:t>
              </a:r>
              <a:endParaRPr b="1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6" name="Google Shape;306;p23"/>
          <p:cNvGrpSpPr/>
          <p:nvPr/>
        </p:nvGrpSpPr>
        <p:grpSpPr>
          <a:xfrm>
            <a:off x="2619375" y="1333500"/>
            <a:ext cx="1952700" cy="1428900"/>
            <a:chOff x="2619375" y="1333500"/>
            <a:chExt cx="1952700" cy="1428900"/>
          </a:xfrm>
        </p:grpSpPr>
        <p:sp>
          <p:nvSpPr>
            <p:cNvPr id="307" name="Google Shape;307;p23"/>
            <p:cNvSpPr/>
            <p:nvPr/>
          </p:nvSpPr>
          <p:spPr>
            <a:xfrm>
              <a:off x="2619375" y="1333500"/>
              <a:ext cx="1952700" cy="14289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3"/>
            <p:cNvSpPr txBox="1"/>
            <p:nvPr/>
          </p:nvSpPr>
          <p:spPr>
            <a:xfrm>
              <a:off x="2857500" y="1603756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auto_stories</a:t>
              </a:r>
              <a:endParaRPr sz="22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09" name="Google Shape;309;p23"/>
            <p:cNvSpPr txBox="1"/>
            <p:nvPr/>
          </p:nvSpPr>
          <p:spPr>
            <a:xfrm>
              <a:off x="2857500" y="2000250"/>
              <a:ext cx="14763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Mācīsies ātrāk</a:t>
              </a:r>
              <a:endParaRPr b="1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0" name="Google Shape;310;p23"/>
          <p:cNvGrpSpPr/>
          <p:nvPr/>
        </p:nvGrpSpPr>
        <p:grpSpPr>
          <a:xfrm>
            <a:off x="4667250" y="1333500"/>
            <a:ext cx="1952700" cy="1428900"/>
            <a:chOff x="4667250" y="1333500"/>
            <a:chExt cx="1952700" cy="1428900"/>
          </a:xfrm>
        </p:grpSpPr>
        <p:sp>
          <p:nvSpPr>
            <p:cNvPr id="311" name="Google Shape;311;p23"/>
            <p:cNvSpPr/>
            <p:nvPr/>
          </p:nvSpPr>
          <p:spPr>
            <a:xfrm>
              <a:off x="4667250" y="1333500"/>
              <a:ext cx="1952700" cy="14289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3"/>
            <p:cNvSpPr txBox="1"/>
            <p:nvPr/>
          </p:nvSpPr>
          <p:spPr>
            <a:xfrm>
              <a:off x="4905375" y="1603756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2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13" name="Google Shape;313;p23"/>
            <p:cNvSpPr txBox="1"/>
            <p:nvPr/>
          </p:nvSpPr>
          <p:spPr>
            <a:xfrm>
              <a:off x="4905375" y="2000250"/>
              <a:ext cx="14763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Pieņems labākus lēmumus</a:t>
              </a:r>
              <a:endParaRPr b="1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4" name="Google Shape;314;p23"/>
          <p:cNvGrpSpPr/>
          <p:nvPr/>
        </p:nvGrpSpPr>
        <p:grpSpPr>
          <a:xfrm>
            <a:off x="6715125" y="1333500"/>
            <a:ext cx="1952700" cy="1428900"/>
            <a:chOff x="6715125" y="1333500"/>
            <a:chExt cx="1952700" cy="1428900"/>
          </a:xfrm>
        </p:grpSpPr>
        <p:sp>
          <p:nvSpPr>
            <p:cNvPr id="315" name="Google Shape;315;p23"/>
            <p:cNvSpPr/>
            <p:nvPr/>
          </p:nvSpPr>
          <p:spPr>
            <a:xfrm>
              <a:off x="6715125" y="1333500"/>
              <a:ext cx="1952700" cy="14289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3"/>
            <p:cNvSpPr txBox="1"/>
            <p:nvPr/>
          </p:nvSpPr>
          <p:spPr>
            <a:xfrm>
              <a:off x="6953250" y="1603756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rocket_launch</a:t>
              </a:r>
              <a:endParaRPr sz="2200">
                <a:solidFill>
                  <a:srgbClr val="4F46E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17" name="Google Shape;317;p23"/>
            <p:cNvSpPr txBox="1"/>
            <p:nvPr/>
          </p:nvSpPr>
          <p:spPr>
            <a:xfrm>
              <a:off x="6953250" y="2000250"/>
              <a:ext cx="14763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Veidos efektīvākus uzņēmumus</a:t>
              </a:r>
              <a:endParaRPr b="1" sz="1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318" name="Google Shape;31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048000"/>
            <a:ext cx="8001000" cy="8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3"/>
          <p:cNvSpPr txBox="1"/>
          <p:nvPr/>
        </p:nvSpPr>
        <p:spPr>
          <a:xfrm>
            <a:off x="762000" y="3048000"/>
            <a:ext cx="76200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Jautājums ir: "Cik ātri tu iemācīsies to izmantot savā labā?"</a:t>
            </a:r>
            <a:endParaRPr b="1" sz="1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0" name="Google Shape;320;p23"/>
          <p:cNvSpPr txBox="1"/>
          <p:nvPr/>
        </p:nvSpPr>
        <p:spPr>
          <a:xfrm>
            <a:off x="571500" y="409575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Jautājums vairs nav par AI nozīmi, bet par tavu spēju pielāgoties.</a:t>
            </a:r>
            <a:endParaRPr b="0" i="1" sz="11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1" name="Google Shape;321;p23"/>
          <p:cNvSpPr txBox="1"/>
          <p:nvPr/>
        </p:nvSpPr>
        <p:spPr>
          <a:xfrm>
            <a:off x="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2"/>
                </a:solidFill>
              </a:rPr>
              <a:t>This is patent and copyright owns only SIA INTELEKTA SKOLA- Šis patents un viņa autortīesības un kopijtiesības pieder Intelekta Skola SIA</a:t>
            </a:r>
            <a:endParaRPr sz="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4"/>
          <p:cNvSpPr/>
          <p:nvPr/>
        </p:nvSpPr>
        <p:spPr>
          <a:xfrm>
            <a:off x="6286500" y="-1428750"/>
            <a:ext cx="2857500" cy="2857500"/>
          </a:xfrm>
          <a:prstGeom prst="ellipse">
            <a:avLst/>
          </a:prstGeom>
          <a:solidFill>
            <a:srgbClr val="4F46E5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4"/>
          <p:cNvSpPr/>
          <p:nvPr/>
        </p:nvSpPr>
        <p:spPr>
          <a:xfrm>
            <a:off x="-1143000" y="4000500"/>
            <a:ext cx="2286000" cy="2286000"/>
          </a:xfrm>
          <a:prstGeom prst="ellipse">
            <a:avLst/>
          </a:prstGeom>
          <a:solidFill>
            <a:srgbClr val="4F46E5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minimalist, high-tech conceptual illustration of a human brain integrated with digital neural networks, glowing softly in indigo and white tones, clean white background, high-end corporate style." id="329" name="Google Shape;32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7750" y="666750"/>
            <a:ext cx="3810000" cy="3810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330" name="Google Shape;330;p24"/>
          <p:cNvSpPr txBox="1"/>
          <p:nvPr/>
        </p:nvSpPr>
        <p:spPr>
          <a:xfrm>
            <a:off x="571500" y="952500"/>
            <a:ext cx="4286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4F46E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INTELEKTA SKOLA</a:t>
            </a:r>
            <a:endParaRPr b="0" sz="1800">
              <a:solidFill>
                <a:srgbClr val="4F46E5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31" name="Google Shape;331;p24"/>
          <p:cNvSpPr txBox="1"/>
          <p:nvPr/>
        </p:nvSpPr>
        <p:spPr>
          <a:xfrm>
            <a:off x="571500" y="1524000"/>
            <a:ext cx="42864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94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Praktiskas zināšanas digitālajai nākotnei</a:t>
            </a:r>
            <a:endParaRPr b="0" sz="294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332" name="Google Shape;332;p24"/>
          <p:cNvGrpSpPr/>
          <p:nvPr/>
        </p:nvGrpSpPr>
        <p:grpSpPr>
          <a:xfrm>
            <a:off x="571500" y="3048000"/>
            <a:ext cx="3810000" cy="1143000"/>
            <a:chOff x="571500" y="3048000"/>
            <a:chExt cx="3810000" cy="1143000"/>
          </a:xfrm>
        </p:grpSpPr>
        <p:sp>
          <p:nvSpPr>
            <p:cNvPr id="333" name="Google Shape;333;p24"/>
            <p:cNvSpPr/>
            <p:nvPr/>
          </p:nvSpPr>
          <p:spPr>
            <a:xfrm>
              <a:off x="571500" y="3048000"/>
              <a:ext cx="3810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4"/>
            <p:cNvSpPr txBox="1"/>
            <p:nvPr/>
          </p:nvSpPr>
          <p:spPr>
            <a:xfrm>
              <a:off x="571500" y="3048000"/>
              <a:ext cx="3810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Mācies gudrāk.</a:t>
              </a:r>
              <a:endParaRPr b="0" sz="14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Strādā efektīvāk.</a:t>
              </a:r>
              <a:endParaRPr b="0" sz="14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Attīsties ātrāk.</a:t>
              </a:r>
              <a:endParaRPr b="0" sz="14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35" name="Google Shape;335;p24"/>
          <p:cNvSpPr/>
          <p:nvPr/>
        </p:nvSpPr>
        <p:spPr>
          <a:xfrm>
            <a:off x="571500" y="4286250"/>
            <a:ext cx="2857500" cy="476400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4"/>
          <p:cNvSpPr txBox="1"/>
          <p:nvPr/>
        </p:nvSpPr>
        <p:spPr>
          <a:xfrm>
            <a:off x="571500" y="4286250"/>
            <a:ext cx="2857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intelektaskola.lv</a:t>
            </a:r>
            <a:endParaRPr b="1" sz="1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Google Shape;337;p24"/>
          <p:cNvSpPr txBox="1"/>
          <p:nvPr/>
        </p:nvSpPr>
        <p:spPr>
          <a:xfrm>
            <a:off x="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2"/>
                </a:solidFill>
              </a:rPr>
              <a:t>This is patent and copyright owns only SIA INTELEKTA SKOLA- Šis patents un viņa autortīesības un kopijtiesības pieder Intelekta Skola SIA</a:t>
            </a:r>
            <a:endParaRPr sz="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